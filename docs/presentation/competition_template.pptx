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</p:sldMasterIdLst>
  <p:notesMasterIdLst>
    <p:notesMasterId r:id="rId6"/>
  </p:notesMasterIdLst>
  <p:sldIdLst>
    <p:sldId id="433" r:id="rId5"/>
    <p:sldId id="412" r:id="rId7"/>
    <p:sldId id="413" r:id="rId8"/>
    <p:sldId id="435" r:id="rId9"/>
    <p:sldId id="36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3737"/>
    <a:srgbClr val="A40000"/>
    <a:srgbClr val="006171"/>
    <a:srgbClr val="EEECE1"/>
    <a:srgbClr val="0097B0"/>
    <a:srgbClr val="6FD57F"/>
    <a:srgbClr val="8100FF"/>
    <a:srgbClr val="DF00FF"/>
    <a:srgbClr val="EE6F57"/>
    <a:srgbClr val="E228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79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0A44A-4D38-48A7-9D7C-ECFC6DB519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5682C6-BE15-415E-9985-CDCE9943C8C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image" Target="../media/image3.jpeg"/><Relationship Id="rId11" Type="http://schemas.openxmlformats.org/officeDocument/2006/relationships/tags" Target="../tags/tag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-28471" y="1871981"/>
            <a:ext cx="8297684" cy="424981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13276" y="1776372"/>
            <a:ext cx="5829300" cy="1013977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zh-CN" altLang="en-US" sz="5600" dirty="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汉仪雅酷黑简" panose="00020600040101010101" charset="-122"/>
              </a:defRPr>
            </a:lvl1pPr>
          </a:lstStyle>
          <a:p>
            <a:pPr marL="0" lvl="0">
              <a:lnSpc>
                <a:spcPct val="114000"/>
              </a:lnSpc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 13"/>
          <p:cNvSpPr/>
          <p:nvPr userDrawn="1">
            <p:custDataLst>
              <p:tags r:id="rId9"/>
            </p:custDataLst>
          </p:nvPr>
        </p:nvSpPr>
        <p:spPr>
          <a:xfrm>
            <a:off x="11779270" y="1871981"/>
            <a:ext cx="412730" cy="424981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-1"/>
            <a:ext cx="3390264" cy="6856713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75613" y="2941823"/>
            <a:ext cx="5330939" cy="759320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zh-CN" altLang="en-US" sz="3000" b="1" i="0" u="none" strike="noStrike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n-cs"/>
              </a:defRPr>
            </a:lvl1pPr>
          </a:lstStyle>
          <a:p>
            <a:pPr marL="0" marR="0" lvl="0" fontAlgn="auto">
              <a:lnSpc>
                <a:spcPct val="83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75613" y="4065311"/>
            <a:ext cx="5330938" cy="1264219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zh-CN" altLang="en-US" sz="1600" b="1" i="0" u="none" strike="noStrike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</a:defRPr>
            </a:lvl1pPr>
          </a:lstStyle>
          <a:p>
            <a:pPr marL="57150" marR="0" lvl="0" indent="-285750" fontAlgn="auto">
              <a:lnSpc>
                <a:spcPct val="139000"/>
              </a:lnSpc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675613" y="740228"/>
            <a:ext cx="5330939" cy="2069197"/>
          </a:xfrm>
        </p:spPr>
        <p:txBody>
          <a:bodyPr vert="horz" wrap="square" rtlCol="0" anchor="b" anchorCtr="0">
            <a:normAutofit fontScale="97500"/>
          </a:bodyPr>
          <a:lstStyle>
            <a:lvl1pPr marL="0" indent="0">
              <a:buFont typeface="Arial" panose="020B0604020202020204" pitchFamily="34" charset="0"/>
              <a:buNone/>
              <a:defRPr lang="zh-CN" altLang="en-US" sz="80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>
              <a:lnSpc>
                <a:spcPct val="83000"/>
              </a:lnSpc>
            </a:pPr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>
            <p:custDataLst>
              <p:tags r:id="rId11"/>
            </p:custDataLst>
          </p:nvPr>
        </p:nvCxnSpPr>
        <p:spPr>
          <a:xfrm>
            <a:off x="6825342" y="3860799"/>
            <a:ext cx="36285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tags" Target="../tags/tag23.xml"/><Relationship Id="rId10" Type="http://schemas.openxmlformats.org/officeDocument/2006/relationships/tags" Target="../tags/tag24.xml"/><Relationship Id="rId11" Type="http://schemas.openxmlformats.org/officeDocument/2006/relationships/tags" Target="../tags/tag25.xml"/><Relationship Id="rId12" Type="http://schemas.openxmlformats.org/officeDocument/2006/relationships/tags" Target="../tags/tag26.xml"/><Relationship Id="rId13" Type="http://schemas.openxmlformats.org/officeDocument/2006/relationships/tags" Target="../tags/tag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A93BF-772A-4C92-B1DC-E6EFAA9B7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F9130-EB6A-4866-830C-2DB68EFB30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9"/>
            </p:custDataLst>
          </p:nvPr>
        </p:nvSpPr>
        <p:spPr>
          <a:xfrm rot="2700000">
            <a:off x="-80199" y="5734664"/>
            <a:ext cx="332666" cy="332666"/>
          </a:xfrm>
          <a:custGeom>
            <a:avLst/>
            <a:gdLst>
              <a:gd name="connsiteX0" fmla="*/ 9730 w 332666"/>
              <a:gd name="connsiteY0" fmla="*/ 9730 h 332666"/>
              <a:gd name="connsiteX1" fmla="*/ 33220 w 332666"/>
              <a:gd name="connsiteY1" fmla="*/ 0 h 332666"/>
              <a:gd name="connsiteX2" fmla="*/ 299446 w 332666"/>
              <a:gd name="connsiteY2" fmla="*/ 0 h 332666"/>
              <a:gd name="connsiteX3" fmla="*/ 332666 w 332666"/>
              <a:gd name="connsiteY3" fmla="*/ 33220 h 332666"/>
              <a:gd name="connsiteX4" fmla="*/ 332666 w 332666"/>
              <a:gd name="connsiteY4" fmla="*/ 299446 h 332666"/>
              <a:gd name="connsiteX5" fmla="*/ 299446 w 332666"/>
              <a:gd name="connsiteY5" fmla="*/ 332666 h 332666"/>
              <a:gd name="connsiteX6" fmla="*/ 210854 w 332666"/>
              <a:gd name="connsiteY6" fmla="*/ 332666 h 332666"/>
              <a:gd name="connsiteX7" fmla="*/ 0 w 332666"/>
              <a:gd name="connsiteY7" fmla="*/ 121812 h 332666"/>
              <a:gd name="connsiteX8" fmla="*/ 0 w 332666"/>
              <a:gd name="connsiteY8" fmla="*/ 33220 h 332666"/>
              <a:gd name="connsiteX9" fmla="*/ 9730 w 332666"/>
              <a:gd name="connsiteY9" fmla="*/ 9730 h 332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2666" h="332666">
                <a:moveTo>
                  <a:pt x="9730" y="9730"/>
                </a:moveTo>
                <a:cubicBezTo>
                  <a:pt x="15742" y="3718"/>
                  <a:pt x="24047" y="0"/>
                  <a:pt x="33220" y="0"/>
                </a:cubicBezTo>
                <a:lnTo>
                  <a:pt x="299446" y="0"/>
                </a:lnTo>
                <a:cubicBezTo>
                  <a:pt x="317793" y="0"/>
                  <a:pt x="332666" y="14873"/>
                  <a:pt x="332666" y="33220"/>
                </a:cubicBezTo>
                <a:lnTo>
                  <a:pt x="332666" y="299446"/>
                </a:lnTo>
                <a:cubicBezTo>
                  <a:pt x="332666" y="317793"/>
                  <a:pt x="317793" y="332666"/>
                  <a:pt x="299446" y="332666"/>
                </a:cubicBezTo>
                <a:lnTo>
                  <a:pt x="210854" y="332666"/>
                </a:lnTo>
                <a:lnTo>
                  <a:pt x="0" y="121812"/>
                </a:lnTo>
                <a:lnTo>
                  <a:pt x="0" y="33220"/>
                </a:lnTo>
                <a:cubicBezTo>
                  <a:pt x="0" y="24047"/>
                  <a:pt x="3718" y="15742"/>
                  <a:pt x="9730" y="9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0"/>
            </p:custDataLst>
          </p:nvPr>
        </p:nvSpPr>
        <p:spPr>
          <a:xfrm>
            <a:off x="366379" y="6222469"/>
            <a:ext cx="1304717" cy="634895"/>
          </a:xfrm>
          <a:custGeom>
            <a:avLst/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1"/>
            </p:custDataLst>
          </p:nvPr>
        </p:nvSpPr>
        <p:spPr>
          <a:xfrm>
            <a:off x="7009" y="6064359"/>
            <a:ext cx="1018554" cy="793006"/>
          </a:xfrm>
          <a:custGeom>
            <a:avLst/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2"/>
            </p:custDataLst>
          </p:nvPr>
        </p:nvSpPr>
        <p:spPr>
          <a:xfrm>
            <a:off x="11017752" y="0"/>
            <a:ext cx="1167239" cy="517298"/>
          </a:xfrm>
          <a:custGeom>
            <a:avLst/>
            <a:gdLst>
              <a:gd name="connsiteX0" fmla="*/ 839552 w 1167239"/>
              <a:gd name="connsiteY0" fmla="*/ 189056 h 517298"/>
              <a:gd name="connsiteX1" fmla="*/ 855602 w 1167239"/>
              <a:gd name="connsiteY1" fmla="*/ 195704 h 517298"/>
              <a:gd name="connsiteX2" fmla="*/ 984236 w 1167239"/>
              <a:gd name="connsiteY2" fmla="*/ 324337 h 517298"/>
              <a:gd name="connsiteX3" fmla="*/ 984236 w 1167239"/>
              <a:gd name="connsiteY3" fmla="*/ 356438 h 517298"/>
              <a:gd name="connsiteX4" fmla="*/ 855602 w 1167239"/>
              <a:gd name="connsiteY4" fmla="*/ 485072 h 517298"/>
              <a:gd name="connsiteX5" fmla="*/ 823501 w 1167239"/>
              <a:gd name="connsiteY5" fmla="*/ 485072 h 517298"/>
              <a:gd name="connsiteX6" fmla="*/ 694868 w 1167239"/>
              <a:gd name="connsiteY6" fmla="*/ 356438 h 517298"/>
              <a:gd name="connsiteX7" fmla="*/ 694868 w 1167239"/>
              <a:gd name="connsiteY7" fmla="*/ 324336 h 517298"/>
              <a:gd name="connsiteX8" fmla="*/ 823501 w 1167239"/>
              <a:gd name="connsiteY8" fmla="*/ 195704 h 517298"/>
              <a:gd name="connsiteX9" fmla="*/ 839552 w 1167239"/>
              <a:gd name="connsiteY9" fmla="*/ 189056 h 517298"/>
              <a:gd name="connsiteX10" fmla="*/ 792602 w 1167239"/>
              <a:gd name="connsiteY10" fmla="*/ 0 h 517298"/>
              <a:gd name="connsiteX11" fmla="*/ 1167239 w 1167239"/>
              <a:gd name="connsiteY11" fmla="*/ 0 h 517298"/>
              <a:gd name="connsiteX12" fmla="*/ 1167239 w 1167239"/>
              <a:gd name="connsiteY12" fmla="*/ 40732 h 517298"/>
              <a:gd name="connsiteX13" fmla="*/ 1035929 w 1167239"/>
              <a:gd name="connsiteY13" fmla="*/ 172042 h 517298"/>
              <a:gd name="connsiteX14" fmla="*/ 964644 w 1167239"/>
              <a:gd name="connsiteY14" fmla="*/ 172042 h 517298"/>
              <a:gd name="connsiteX15" fmla="*/ 160371 w 1167239"/>
              <a:gd name="connsiteY15" fmla="*/ 0 h 517298"/>
              <a:gd name="connsiteX16" fmla="*/ 511724 w 1167239"/>
              <a:gd name="connsiteY16" fmla="*/ 0 h 517298"/>
              <a:gd name="connsiteX17" fmla="*/ 657332 w 1167239"/>
              <a:gd name="connsiteY17" fmla="*/ 145608 h 517298"/>
              <a:gd name="connsiteX18" fmla="*/ 657332 w 1167239"/>
              <a:gd name="connsiteY18" fmla="*/ 216893 h 517298"/>
              <a:gd name="connsiteX19" fmla="*/ 371690 w 1167239"/>
              <a:gd name="connsiteY19" fmla="*/ 502535 h 517298"/>
              <a:gd name="connsiteX20" fmla="*/ 300405 w 1167239"/>
              <a:gd name="connsiteY20" fmla="*/ 502535 h 517298"/>
              <a:gd name="connsiteX21" fmla="*/ 14763 w 1167239"/>
              <a:gd name="connsiteY21" fmla="*/ 216893 h 517298"/>
              <a:gd name="connsiteX22" fmla="*/ 14763 w 1167239"/>
              <a:gd name="connsiteY22" fmla="*/ 145608 h 517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67239" h="517298">
                <a:moveTo>
                  <a:pt x="839552" y="189056"/>
                </a:moveTo>
                <a:cubicBezTo>
                  <a:pt x="845361" y="189055"/>
                  <a:pt x="851170" y="191272"/>
                  <a:pt x="855602" y="195704"/>
                </a:cubicBezTo>
                <a:lnTo>
                  <a:pt x="984236" y="324337"/>
                </a:lnTo>
                <a:cubicBezTo>
                  <a:pt x="993100" y="333201"/>
                  <a:pt x="993100" y="347574"/>
                  <a:pt x="984236" y="356438"/>
                </a:cubicBezTo>
                <a:lnTo>
                  <a:pt x="855602" y="485072"/>
                </a:lnTo>
                <a:cubicBezTo>
                  <a:pt x="846738" y="493936"/>
                  <a:pt x="832365" y="493936"/>
                  <a:pt x="823501" y="485072"/>
                </a:cubicBezTo>
                <a:lnTo>
                  <a:pt x="694868" y="356438"/>
                </a:lnTo>
                <a:cubicBezTo>
                  <a:pt x="686003" y="347574"/>
                  <a:pt x="686003" y="333201"/>
                  <a:pt x="694868" y="324336"/>
                </a:cubicBezTo>
                <a:lnTo>
                  <a:pt x="823501" y="195704"/>
                </a:lnTo>
                <a:cubicBezTo>
                  <a:pt x="827933" y="191272"/>
                  <a:pt x="833743" y="189056"/>
                  <a:pt x="839552" y="189056"/>
                </a:cubicBezTo>
                <a:close/>
                <a:moveTo>
                  <a:pt x="792602" y="0"/>
                </a:moveTo>
                <a:lnTo>
                  <a:pt x="1167239" y="0"/>
                </a:lnTo>
                <a:lnTo>
                  <a:pt x="1167239" y="40732"/>
                </a:lnTo>
                <a:lnTo>
                  <a:pt x="1035929" y="172042"/>
                </a:lnTo>
                <a:cubicBezTo>
                  <a:pt x="1016244" y="191727"/>
                  <a:pt x="984329" y="191726"/>
                  <a:pt x="964644" y="172042"/>
                </a:cubicBezTo>
                <a:close/>
                <a:moveTo>
                  <a:pt x="160371" y="0"/>
                </a:moveTo>
                <a:lnTo>
                  <a:pt x="511724" y="0"/>
                </a:lnTo>
                <a:lnTo>
                  <a:pt x="657332" y="145608"/>
                </a:lnTo>
                <a:cubicBezTo>
                  <a:pt x="677017" y="165292"/>
                  <a:pt x="677017" y="197209"/>
                  <a:pt x="657332" y="216893"/>
                </a:cubicBezTo>
                <a:lnTo>
                  <a:pt x="371690" y="502535"/>
                </a:lnTo>
                <a:cubicBezTo>
                  <a:pt x="352006" y="522220"/>
                  <a:pt x="320090" y="522220"/>
                  <a:pt x="300405" y="502535"/>
                </a:cubicBezTo>
                <a:lnTo>
                  <a:pt x="14763" y="216893"/>
                </a:lnTo>
                <a:cubicBezTo>
                  <a:pt x="-4921" y="197209"/>
                  <a:pt x="-4921" y="165292"/>
                  <a:pt x="14763" y="1456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tags" Target="../tags/tag36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tags" Target="../tags/tag37.xml"/><Relationship Id="rId15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tags" Target="../tags/tag40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tags" Target="../tags/tag41.xml"/><Relationship Id="rId9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266315"/>
            <a:ext cx="12192635" cy="2708275"/>
          </a:xfrm>
          <a:prstGeom prst="rect">
            <a:avLst/>
          </a:prstGeom>
          <a:solidFill>
            <a:srgbClr val="CB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3295" y="4101465"/>
            <a:ext cx="5947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 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 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汇报日期：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96815" y="2860040"/>
            <a:ext cx="29603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论文题目</a:t>
            </a:r>
            <a:endParaRPr lang="zh-CN" altLang="en-US" sz="5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3962" t="7432" r="65781" b="18187"/>
          <a:stretch>
            <a:fillRect/>
          </a:stretch>
        </p:blipFill>
        <p:spPr>
          <a:xfrm>
            <a:off x="6236970" y="1082675"/>
            <a:ext cx="837565" cy="860425"/>
          </a:xfrm>
          <a:prstGeom prst="ellipse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9058" t="26182" r="36946" b="27930"/>
          <a:stretch>
            <a:fillRect/>
          </a:stretch>
        </p:blipFill>
        <p:spPr>
          <a:xfrm>
            <a:off x="5307330" y="1116330"/>
            <a:ext cx="784860" cy="795020"/>
          </a:xfrm>
          <a:prstGeom prst="ellipse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25894" t="9532" r="25972" b="9866"/>
          <a:stretch>
            <a:fillRect/>
          </a:stretch>
        </p:blipFill>
        <p:spPr>
          <a:xfrm>
            <a:off x="7122160" y="1116330"/>
            <a:ext cx="1080135" cy="791845"/>
          </a:xfrm>
          <a:prstGeom prst="ellipse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rcRect r="80156" b="-7076"/>
          <a:stretch>
            <a:fillRect/>
          </a:stretch>
        </p:blipFill>
        <p:spPr>
          <a:xfrm>
            <a:off x="4293235" y="1167130"/>
            <a:ext cx="857885" cy="756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1830585"/>
            <a:ext cx="12192000" cy="4286250"/>
          </a:xfrm>
          <a:prstGeom prst="rect">
            <a:avLst/>
          </a:prstGeom>
          <a:solidFill>
            <a:srgbClr val="CA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3276" y="1776372"/>
            <a:ext cx="5829300" cy="1013977"/>
          </a:xfrm>
        </p:spPr>
        <p:txBody>
          <a:bodyPr>
            <a:normAutofit/>
          </a:bodyPr>
          <a:lstStyle/>
          <a:p>
            <a:r>
              <a:rPr sz="5400" dirty="0"/>
              <a:t>目录</a:t>
            </a:r>
            <a:r>
              <a:rPr lang="en-US" altLang="zh-CN" dirty="0"/>
              <a:t> </a:t>
            </a:r>
            <a:r>
              <a:rPr lang="en-US" altLang="zh-CN" sz="3600" dirty="0">
                <a:solidFill>
                  <a:schemeClr val="bg1"/>
                </a:solidFill>
              </a:rPr>
              <a:t>CONTENTS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259987" y="3309999"/>
            <a:ext cx="838109" cy="7474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01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1210310" y="3781425"/>
            <a:ext cx="2363470" cy="2247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spc="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gency FB" panose="020B0503020202020204" pitchFamily="34" charset="0"/>
              </a:rPr>
              <a:t>研究背景与现状</a:t>
            </a:r>
            <a:endParaRPr kumimoji="0" lang="zh-CN" altLang="en-US" sz="2000" b="1" i="0" u="none" strike="noStrike" kern="1200" cap="none" spc="6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kumimoji="0" lang="zh-CN" altLang="en-US" sz="2000" b="1" i="0" u="none" strike="noStrike" kern="1200" cap="none" spc="6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</p:txBody>
      </p:sp>
      <p:sp>
        <p:nvSpPr>
          <p:cNvPr id="16" name="序号"/>
          <p:cNvSpPr txBox="1"/>
          <p:nvPr>
            <p:custDataLst>
              <p:tags r:id="rId4"/>
            </p:custDataLst>
          </p:nvPr>
        </p:nvSpPr>
        <p:spPr>
          <a:xfrm>
            <a:off x="3686628" y="3309999"/>
            <a:ext cx="838109" cy="7474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02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7" name="项标题"/>
          <p:cNvSpPr txBox="1"/>
          <p:nvPr>
            <p:custDataLst>
              <p:tags r:id="rId5"/>
            </p:custDataLst>
          </p:nvPr>
        </p:nvSpPr>
        <p:spPr>
          <a:xfrm>
            <a:off x="4638040" y="3596640"/>
            <a:ext cx="2327275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220" b="1" spc="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gency FB" panose="020B0503020202020204" pitchFamily="34" charset="0"/>
              </a:rPr>
              <a:t>研究内容和目的</a:t>
            </a:r>
            <a:endParaRPr kumimoji="0" lang="zh-CN" altLang="en-US" sz="2220" b="1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kumimoji="0" lang="zh-CN" altLang="en-US" sz="2220" b="1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</p:txBody>
      </p:sp>
      <p:sp>
        <p:nvSpPr>
          <p:cNvPr id="24" name="序号"/>
          <p:cNvSpPr txBox="1"/>
          <p:nvPr>
            <p:custDataLst>
              <p:tags r:id="rId6"/>
            </p:custDataLst>
          </p:nvPr>
        </p:nvSpPr>
        <p:spPr>
          <a:xfrm>
            <a:off x="259987" y="4190926"/>
            <a:ext cx="838109" cy="7474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03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5" name="项标题"/>
          <p:cNvSpPr txBox="1"/>
          <p:nvPr>
            <p:custDataLst>
              <p:tags r:id="rId7"/>
            </p:custDataLst>
          </p:nvPr>
        </p:nvSpPr>
        <p:spPr>
          <a:xfrm>
            <a:off x="1209675" y="4563110"/>
            <a:ext cx="2364105" cy="4813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220" b="1" spc="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gency FB" panose="020B0503020202020204" pitchFamily="34" charset="0"/>
              </a:rPr>
              <a:t>关键技术及难点</a:t>
            </a:r>
            <a:endParaRPr lang="zh-CN" altLang="en-US" sz="2220" b="1" spc="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lang="zh-CN" altLang="en-US" sz="2220" b="1" spc="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</p:txBody>
      </p:sp>
      <p:sp>
        <p:nvSpPr>
          <p:cNvPr id="14" name="序号"/>
          <p:cNvSpPr txBox="1"/>
          <p:nvPr>
            <p:custDataLst>
              <p:tags r:id="rId8"/>
            </p:custDataLst>
          </p:nvPr>
        </p:nvSpPr>
        <p:spPr>
          <a:xfrm>
            <a:off x="3686628" y="4190926"/>
            <a:ext cx="838109" cy="7474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zh-CN"/>
            </a:defPPr>
            <a:lvl1pPr algn="r">
              <a:lnSpc>
                <a:spcPct val="114000"/>
              </a:lnSpc>
              <a:defRPr sz="4500">
                <a:solidFill>
                  <a:schemeClr val="lt1"/>
                </a:solidFill>
                <a:latin typeface="Arial" panose="020B0604020202020204" pitchFamily="34" charset="0"/>
                <a:ea typeface="汉仪粗简黑简" panose="00020600040101010101" charset="-122"/>
              </a:defRPr>
            </a:lvl1pPr>
          </a:lstStyle>
          <a:p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ea"/>
              </a:rPr>
              <a:t>04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9" name="项标题"/>
          <p:cNvSpPr txBox="1"/>
          <p:nvPr>
            <p:custDataLst>
              <p:tags r:id="rId9"/>
            </p:custDataLst>
          </p:nvPr>
        </p:nvSpPr>
        <p:spPr>
          <a:xfrm>
            <a:off x="4638040" y="4563110"/>
            <a:ext cx="2327275" cy="4813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220" b="1" spc="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gency FB" panose="020B0503020202020204" pitchFamily="34" charset="0"/>
              </a:rPr>
              <a:t>可行性与创新性</a:t>
            </a:r>
            <a:endParaRPr kumimoji="0" lang="zh-CN" altLang="en-US" sz="2220" b="1" i="0" u="none" strike="noStrike" kern="1200" cap="none" spc="6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kumimoji="0" lang="zh-CN" altLang="en-US" sz="2220" b="1" i="0" u="none" strike="noStrike" kern="1200" cap="none" spc="6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3565" y="5283835"/>
            <a:ext cx="4064000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+mj-lt"/>
                <a:ea typeface="+mj-ea"/>
                <a:sym typeface="+mn-ea"/>
              </a:rPr>
              <a:t>05 </a:t>
            </a:r>
            <a:r>
              <a:rPr lang="zh-CN" altLang="en-US" sz="2000" b="1" spc="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gency FB" panose="020B0503020202020204" pitchFamily="34" charset="0"/>
              </a:rPr>
              <a:t>研究进度及安排</a:t>
            </a:r>
            <a:endParaRPr kumimoji="0" lang="zh-CN" altLang="en-US" sz="2800" b="1" i="0" u="none" strike="noStrike" kern="1200" cap="none" spc="6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gency FB" panose="020B0503020202020204" pitchFamily="34" charset="0"/>
            </a:endParaRPr>
          </a:p>
          <a:p>
            <a:pPr algn="l"/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rcRect l="3962" t="7432" r="65781" b="18187"/>
          <a:stretch>
            <a:fillRect/>
          </a:stretch>
        </p:blipFill>
        <p:spPr>
          <a:xfrm>
            <a:off x="2018665" y="106680"/>
            <a:ext cx="774700" cy="795655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rcRect l="29058" t="26182" r="36946" b="27930"/>
          <a:stretch>
            <a:fillRect/>
          </a:stretch>
        </p:blipFill>
        <p:spPr>
          <a:xfrm>
            <a:off x="1089025" y="140335"/>
            <a:ext cx="752475" cy="762000"/>
          </a:xfrm>
          <a:prstGeom prst="ellipse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rcRect l="25894" t="9532" r="25972" b="9866"/>
          <a:stretch>
            <a:fillRect/>
          </a:stretch>
        </p:blipFill>
        <p:spPr>
          <a:xfrm>
            <a:off x="2903855" y="140335"/>
            <a:ext cx="1038860" cy="761365"/>
          </a:xfrm>
          <a:prstGeom prst="ellipse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3"/>
          <a:srcRect r="80156" b="-7076"/>
          <a:stretch>
            <a:fillRect/>
          </a:stretch>
        </p:blipFill>
        <p:spPr>
          <a:xfrm>
            <a:off x="187325" y="191135"/>
            <a:ext cx="745490" cy="65722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kern="0" spc="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研究背景及现状</a:t>
            </a:r>
            <a:endParaRPr lang="zh-CN" altLang="en-US" kern="0" spc="600" noProof="0" dirty="0">
              <a:ln>
                <a:noFill/>
              </a:ln>
              <a:solidFill>
                <a:srgbClr val="C00000"/>
              </a:solidFill>
              <a:effectLst/>
              <a:uLn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346825" y="4065270"/>
            <a:ext cx="5330825" cy="708660"/>
          </a:xfrm>
        </p:spPr>
        <p:txBody>
          <a:bodyPr/>
          <a:lstStyle/>
          <a:p>
            <a:pPr algn="ctr"/>
            <a:r>
              <a:rPr lang="en-US" altLang="zh-CN">
                <a:solidFill>
                  <a:srgbClr val="C00000"/>
                </a:solidFill>
                <a:sym typeface="+mn-ea"/>
              </a:rPr>
              <a:t>Research Background and Current Situation</a:t>
            </a:r>
            <a:endParaRPr lang="en-US" altLang="zh-CN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kern="0" spc="600">
                <a:solidFill>
                  <a:srgbClr val="A8311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zh-CN" kern="0" spc="600" dirty="0">
              <a:solidFill>
                <a:srgbClr val="A8311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3962" t="7432" r="65781" b="18187"/>
          <a:stretch>
            <a:fillRect/>
          </a:stretch>
        </p:blipFill>
        <p:spPr>
          <a:xfrm>
            <a:off x="9992360" y="106680"/>
            <a:ext cx="774700" cy="795655"/>
          </a:xfrm>
          <a:prstGeom prst="ellipse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l="29058" t="26182" r="36946" b="27930"/>
          <a:stretch>
            <a:fillRect/>
          </a:stretch>
        </p:blipFill>
        <p:spPr>
          <a:xfrm>
            <a:off x="9062720" y="140335"/>
            <a:ext cx="752475" cy="762000"/>
          </a:xfrm>
          <a:prstGeom prst="ellipse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rcRect l="25894" t="9532" r="25972" b="9866"/>
          <a:stretch>
            <a:fillRect/>
          </a:stretch>
        </p:blipFill>
        <p:spPr>
          <a:xfrm>
            <a:off x="10877550" y="140335"/>
            <a:ext cx="1038860" cy="761365"/>
          </a:xfrm>
          <a:prstGeom prst="ellipse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rcRect r="80156" b="-7076"/>
          <a:stretch>
            <a:fillRect/>
          </a:stretch>
        </p:blipFill>
        <p:spPr>
          <a:xfrm>
            <a:off x="8161020" y="191135"/>
            <a:ext cx="745490" cy="65722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576469" y="964102"/>
            <a:ext cx="7215809" cy="0"/>
          </a:xfrm>
          <a:prstGeom prst="line">
            <a:avLst/>
          </a:prstGeom>
          <a:ln w="76200">
            <a:solidFill>
              <a:srgbClr val="CB37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76469" y="336786"/>
            <a:ext cx="45067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 kern="0" spc="600" dirty="0">
                <a:solidFill>
                  <a:srgbClr val="A8311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研究背景及现状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B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3962" t="7432" r="65781" b="18187"/>
          <a:stretch>
            <a:fillRect/>
          </a:stretch>
        </p:blipFill>
        <p:spPr>
          <a:xfrm>
            <a:off x="9992360" y="106680"/>
            <a:ext cx="774700" cy="795655"/>
          </a:xfrm>
          <a:prstGeom prst="ellipse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9058" t="26182" r="36946" b="27930"/>
          <a:stretch>
            <a:fillRect/>
          </a:stretch>
        </p:blipFill>
        <p:spPr>
          <a:xfrm>
            <a:off x="9062720" y="140335"/>
            <a:ext cx="752475" cy="762000"/>
          </a:xfrm>
          <a:prstGeom prst="ellipse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25894" t="9532" r="25972" b="9866"/>
          <a:stretch>
            <a:fillRect/>
          </a:stretch>
        </p:blipFill>
        <p:spPr>
          <a:xfrm>
            <a:off x="10877550" y="140335"/>
            <a:ext cx="1038860" cy="761365"/>
          </a:xfrm>
          <a:prstGeom prst="ellipse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rcRect r="80156" b="-7076"/>
          <a:stretch>
            <a:fillRect/>
          </a:stretch>
        </p:blipFill>
        <p:spPr>
          <a:xfrm>
            <a:off x="8161020" y="191135"/>
            <a:ext cx="745490" cy="657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01875"/>
            <a:ext cx="12192000" cy="3125470"/>
          </a:xfrm>
          <a:prstGeom prst="rect">
            <a:avLst/>
          </a:prstGeom>
          <a:solidFill>
            <a:srgbClr val="CB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001010" y="3209925"/>
            <a:ext cx="67538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敬请各位老师批评指导！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58460" y="4113530"/>
            <a:ext cx="1838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3962" t="7432" r="65781" b="18187"/>
          <a:stretch>
            <a:fillRect/>
          </a:stretch>
        </p:blipFill>
        <p:spPr>
          <a:xfrm>
            <a:off x="6236970" y="1082675"/>
            <a:ext cx="837565" cy="860425"/>
          </a:xfrm>
          <a:prstGeom prst="ellipse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9058" t="26182" r="36946" b="27930"/>
          <a:stretch>
            <a:fillRect/>
          </a:stretch>
        </p:blipFill>
        <p:spPr>
          <a:xfrm>
            <a:off x="5307330" y="1116330"/>
            <a:ext cx="784860" cy="795020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25894" t="9532" r="25972" b="9866"/>
          <a:stretch>
            <a:fillRect/>
          </a:stretch>
        </p:blipFill>
        <p:spPr>
          <a:xfrm>
            <a:off x="7122160" y="1116330"/>
            <a:ext cx="1080135" cy="791845"/>
          </a:xfrm>
          <a:prstGeom prst="ellipse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rcRect r="80156" b="-7076"/>
          <a:stretch>
            <a:fillRect/>
          </a:stretch>
        </p:blipFill>
        <p:spPr>
          <a:xfrm>
            <a:off x="4293235" y="1167130"/>
            <a:ext cx="857885" cy="756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  <p:tag name="KSO_WM_CHIP_GROUPID" val="629425eedb924c3ee3991e4a"/>
  <p:tag name="KSO_WM_CHIP_XID" val="629d66167459d9b06302c11c"/>
  <p:tag name="KSO_WM_UNIT_DEC_AREA_ID" val="88e1e43502c94c699f12a58b27ba7229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30600b1e6f4b85aa2fb567ab3facba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UNIT_VALUE" val="75"/>
</p:tagLst>
</file>

<file path=ppt/tags/tag1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TYPE" val="i"/>
  <p:tag name="KSO_WM_UNIT_INDEX" val="2"/>
  <p:tag name="KSO_WM_UNIT_ID" val="_4*i*2"/>
  <p:tag name="KSO_WM_BEAUTIFY_FLAG" val="#wm#"/>
  <p:tag name="KSO_WM_TAG_VERSION" val="3.0"/>
  <p:tag name="KSO_WM_CHIP_GROUPID" val="629425eedb924c3ee3991e4a"/>
  <p:tag name="KSO_WM_CHIP_XID" val="629d66167459d9b06302c34d"/>
  <p:tag name="KSO_WM_UNIT_DEC_AREA_ID" val="556abc1500e14952adae91ff4858c4f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718caee4cdb458181e4164d62f83875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1587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1587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587"/>
  <p:tag name="KSO_WM_TEMPLATE_THUMBS_INDEX" val="1、9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587_4*a*1"/>
  <p:tag name="KSO_WM_TEMPLATE_CATEGORY" val="custom"/>
  <p:tag name="KSO_WM_TEMPLATE_INDEX" val="20231587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1587_4*l_h_i*1_1_1"/>
  <p:tag name="KSO_WM_TEMPLATE_CATEGORY" val="custom"/>
  <p:tag name="KSO_WM_TEMPLATE_INDEX" val="202315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15.321420331339231,&quot;top&quot;:221.77271581214245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1587_4*l_h_a*1_1_1"/>
  <p:tag name="KSO_WM_TEMPLATE_CATEGORY" val="custom"/>
  <p:tag name="KSO_WM_TEMPLATE_INDEX" val="2023158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23.42142033133923,&quot;top&quot;:222.57271581214246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1587_4*l_h_i*1_2_1"/>
  <p:tag name="KSO_WM_TEMPLATE_CATEGORY" val="custom"/>
  <p:tag name="KSO_WM_TEMPLATE_INDEX" val="202315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15.321420331339231,&quot;top&quot;:221.77271581214245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1587_4*l_h_a*1_2_1"/>
  <p:tag name="KSO_WM_TEMPLATE_CATEGORY" val="custom"/>
  <p:tag name="KSO_WM_TEMPLATE_INDEX" val="2023158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23.42142033133923,&quot;top&quot;:222.57271581214246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1587_4*l_h_i*1_3_1"/>
  <p:tag name="KSO_WM_TEMPLATE_CATEGORY" val="custom"/>
  <p:tag name="KSO_WM_TEMPLATE_INDEX" val="202315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15.321420331339231,&quot;top&quot;:221.77271581214245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1587_4*l_h_a*1_3_1"/>
  <p:tag name="KSO_WM_TEMPLATE_CATEGORY" val="custom"/>
  <p:tag name="KSO_WM_TEMPLATE_INDEX" val="2023158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23.42142033133923,&quot;top&quot;:222.57271581214246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1587_4*l_h_i*1_4_1"/>
  <p:tag name="KSO_WM_TEMPLATE_CATEGORY" val="custom"/>
  <p:tag name="KSO_WM_TEMPLATE_INDEX" val="2023158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15.321420331339231,&quot;top&quot;:221.77271581214245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1587_4*l_h_a*1_4_1"/>
  <p:tag name="KSO_WM_TEMPLATE_CATEGORY" val="custom"/>
  <p:tag name="KSO_WM_TEMPLATE_INDEX" val="2023158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14.2863006591797,&quot;left&quot;:23.42142033133923,&quot;top&quot;:222.57271581214246,&quot;width&quot;:511.47857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</p:tagLst>
</file>

<file path=ppt/tags/tag37.xml><?xml version="1.0" encoding="utf-8"?>
<p:tagLst xmlns:p="http://schemas.openxmlformats.org/presentationml/2006/main">
  <p:tag name="KSO_WM_SLIDE_ID" val="custom20231587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1587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587_7*a*1"/>
  <p:tag name="KSO_WM_TEMPLATE_CATEGORY" val="custom"/>
  <p:tag name="KSO_WM_TEMPLATE_INDEX" val="2023158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587_7*b*1"/>
  <p:tag name="KSO_WM_TEMPLATE_CATEGORY" val="custom"/>
  <p:tag name="KSO_WM_TEMPLATE_INDEX" val="2023158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4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587_7*e*1"/>
  <p:tag name="KSO_WM_TEMPLATE_CATEGORY" val="custom"/>
  <p:tag name="KSO_WM_TEMPLATE_INDEX" val="20231587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41.xml><?xml version="1.0" encoding="utf-8"?>
<p:tagLst xmlns:p="http://schemas.openxmlformats.org/presentationml/2006/main">
  <p:tag name="KSO_WM_SLIDE_ID" val="custom20231587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587"/>
  <p:tag name="KSO_WM_SLIDE_TYPE" val="sectionTitle"/>
  <p:tag name="KSO_WM_SLIDE_SUBTYPE" val="pureTxt"/>
  <p:tag name="KSO_WM_SLIDE_LAYOUT" val="a_b_e"/>
  <p:tag name="KSO_WM_SLIDE_LAYOUT_CNT" val="1_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​​">
  <a:themeElements>
    <a:clrScheme name="自定义 31">
      <a:dk1>
        <a:srgbClr val="000000"/>
      </a:dk1>
      <a:lt1>
        <a:srgbClr val="FFFFFF"/>
      </a:lt1>
      <a:dk2>
        <a:srgbClr val="00071A"/>
      </a:dk2>
      <a:lt2>
        <a:srgbClr val="FFFFFF"/>
      </a:lt2>
      <a:accent1>
        <a:srgbClr val="BC5858"/>
      </a:accent1>
      <a:accent2>
        <a:srgbClr val="B83A3A"/>
      </a:accent2>
      <a:accent3>
        <a:srgbClr val="BA8080"/>
      </a:accent3>
      <a:accent4>
        <a:srgbClr val="C51919"/>
      </a:accent4>
      <a:accent5>
        <a:srgbClr val="7C5050"/>
      </a:accent5>
      <a:accent6>
        <a:srgbClr val="8B5B5B"/>
      </a:accent6>
      <a:hlink>
        <a:srgbClr val="304FFE"/>
      </a:hlink>
      <a:folHlink>
        <a:srgbClr val="492067"/>
      </a:folHlink>
    </a:clrScheme>
    <a:fontScheme name="自定义 129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WPS 演示</Application>
  <PresentationFormat>宽屏</PresentationFormat>
  <Paragraphs>41</Paragraphs>
  <Slides>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汉仪雅酷黑简</vt:lpstr>
      <vt:lpstr>黑体</vt:lpstr>
      <vt:lpstr>微软雅黑</vt:lpstr>
      <vt:lpstr>汉仪粗简黑简</vt:lpstr>
      <vt:lpstr>Agency FB</vt:lpstr>
      <vt:lpstr>等线</vt:lpstr>
      <vt:lpstr>Arial Unicode MS</vt:lpstr>
      <vt:lpstr>等线 Light</vt:lpstr>
      <vt:lpstr>+中文正文</vt:lpstr>
      <vt:lpstr>Segoe Print</vt:lpstr>
      <vt:lpstr>汉仪正圆-55W</vt:lpstr>
      <vt:lpstr>Monaspace Neon</vt:lpstr>
      <vt:lpstr>Office 主题​​</vt:lpstr>
      <vt:lpstr>1_Office 主题​​</vt:lpstr>
      <vt:lpstr>6_Office 主题​​</vt:lpstr>
      <vt:lpstr>PowerPoint 演示文稿</vt:lpstr>
      <vt:lpstr>目录 CONTENTS</vt:lpstr>
      <vt:lpstr>研究背景及现状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cby</dc:creator>
  <cp:lastModifiedBy>寒宗</cp:lastModifiedBy>
  <cp:revision>389</cp:revision>
  <dcterms:created xsi:type="dcterms:W3CDTF">2019-01-04T06:52:00Z</dcterms:created>
  <dcterms:modified xsi:type="dcterms:W3CDTF">2026-07-18T02:58:52Z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KSOTemplateUUID">
    <vt:lpwstr>v1.0_mb_ZIyl5ofQ+mzzh+YDhgPKLw==</vt:lpwstr>
  </property>
  <property fmtid="{D5CDD505-2E9C-101B-9397-08002B2CF9AE}" pid="4" name="ICV">
    <vt:lpwstr>894E0BE1C459441F9A72C24B1BB8AA81_13</vt:lpwstr>
  </property>
</Properties>
</file>